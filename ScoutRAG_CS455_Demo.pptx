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al__ma_Sayfas_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al__ma_Sayfas_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_al__ma_Sayfas_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Recall@20 (%)</c:v>
                </c:pt>
              </c:strCache>
            </c:strRef>
          </c:tx>
          <c:spPr>
            <a:solidFill>
              <a:srgbClr val="1E7A4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E2A52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Similar → unknown</c:v>
                </c:pt>
                <c:pt idx="1">
                  <c:v>Long strict query</c:v>
                </c:pt>
                <c:pt idx="2">
                  <c:v>Long narrative</c:v>
                </c:pt>
                <c:pt idx="3">
                  <c:v>Unusual nationality</c:v>
                </c:pt>
                <c:pt idx="4">
                  <c:v>Real-player lookup</c:v>
                </c:pt>
                <c:pt idx="5">
                  <c:v>Invalid position</c:v>
                </c:pt>
                <c:pt idx="6">
                  <c:v>Attribute coverage</c:v>
                </c:pt>
                <c:pt idx="7">
                  <c:v>GK attributes</c:v>
                </c:pt>
                <c:pt idx="8">
                  <c:v>Age-focused</c:v>
                </c:pt>
                <c:pt idx="9">
                  <c:v>Short query</c:v>
                </c:pt>
                <c:pt idx="10">
                  <c:v>Edge case</c:v>
                </c:pt>
                <c:pt idx="11">
                  <c:v>Non-existent player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50</c:v>
                </c:pt>
                <c:pt idx="2">
                  <c:v>60</c:v>
                </c:pt>
                <c:pt idx="3">
                  <c:v>60</c:v>
                </c:pt>
                <c:pt idx="4">
                  <c:v>80.0</c:v>
                </c:pt>
                <c:pt idx="5">
                  <c:v>80</c:v>
                </c:pt>
                <c:pt idx="6">
                  <c:v>83</c:v>
                </c:pt>
                <c:pt idx="7">
                  <c:v>100.0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D3-4D42-A8CE-5975EC4CBD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4314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b"/>
        <c:majorGridlines>
          <c:spPr>
            <a:ln w="6350" cap="flat">
              <a:solidFill>
                <a:srgbClr val="E6EC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Constraint satisfaction (%)</c:v>
                </c:pt>
              </c:strCache>
            </c:strRef>
          </c:tx>
          <c:spPr>
            <a:solidFill>
              <a:srgbClr val="1E2A52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E2A52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Structured-only</c:v>
                </c:pt>
                <c:pt idx="1">
                  <c:v>Vector-only</c:v>
                </c:pt>
                <c:pt idx="2">
                  <c:v>Hybrid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7.7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CB-2445-837E-93D9BBE6A5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431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6EC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Recall@20 (%)</c:v>
                </c:pt>
              </c:strCache>
            </c:strRef>
          </c:tx>
          <c:spPr>
            <a:solidFill>
              <a:srgbClr val="1E7A46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1E2A52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Structured-only</c:v>
                </c:pt>
                <c:pt idx="1">
                  <c:v>Semantic-only</c:v>
                </c:pt>
                <c:pt idx="2">
                  <c:v>Hybrid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84.6</c:v>
                </c:pt>
                <c:pt idx="1">
                  <c:v>33.299999999999997</c:v>
                </c:pt>
                <c:pt idx="2">
                  <c:v>84.6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7D-9145-AC87-80617193A4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431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6EC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5274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(Umut Can). Hi, we are &lt;names&gt;. Our project is ScoutRAG, a retrieval-augmented football scouting assistant.
State the honest framing up front: the data is a Football Manager 2024 export, so every attribute is a designer-set GAME value, not real scouting data. We treat it strictly as a synthetic prototype to validate the retrieval + grounding pipeline. It is NOT Text-to-SQL.
Suggested speaking split (all three present): Umut Can = problem, data, retrieval engine; Yiğit Onur = structured filtering + ranking; Mustafa Ege = LLM, grounding, evaluation. Everyone should be able to answer questions on any part.
Timing target (CS455): ~12-13 min talk + 5 min Q&amp;A. Keep slides 2-11 to ~6 min so the live demo gets 5-6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problem in one line: a real scouting query mixes hard constraints, categorical filters, a budget, and subjective style.
Walk the three naive baselines and why each fails: SQL needs schema knowledge; vector search ignores hard limits; template/LLM fabricates numbers.
End on the one-liner at the bottom — that is exactly the three-part design we built. This motivates the architecture coming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the instructor specifically cares about — lead with honesty.
Say clearly: FM24 attributes are set by game designers, not measured from real performance. We never claim it is real scouting data, and the system is not Text-to-SQL.
Then the compliance point: data came from the game's own official export feature — no scraping, no ToS issue, no personal data.
Mention the cleaning number (1,895 invalid rows removed) to show we inspected and cleaned the raw export rather than trusting it blindly.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orientation so the TAs know the shape of the data before the method.
Four attribute families on a 1–20 scale; goalkeeper attributes are kept separate and never score outfield players (comes back in ranking).
Point out the value/wage missingness — budget queries deliberately exclude players with unknown or not-for-sale values; this is a design choice, not a bug.
Close by repeating: these numbers validate retrieval behaviour, they are not claims about real 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30-second overview of the whole system before the diagram.
Four parts: parse, filter, re-rank, verify. Components 1-3 are retrieval; component 4 is the novel grounding step.
Stress the shared-engine point: notebook, backend, and the web UI all import the same scoutrag package, so the demo behaves exactly like the evaluation. Next slide shows how they connect.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arrows left to right. A query is first routed (info / similar / search). Search queries are parsed into hard constraints + soft signals.
Structured filter (dark box) is the gate — strict AND of all hard constraints. Then ranking, and semantic re-rank ONLY for descriptive queries.
Bottom strip is the optional generation path: retrieved rows feed the LLM report (RAG), then the grounding verifier (green) checks the numbers.
Read out the two callouts: the guardrail (LLM can't change constraints) and the key contribution (grounding check). The whole pipeline runs even with no LLM via rule-based fallbacks.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design decision. Precise numbers are HARD — enforced exactly. Vague adjectives are SOFT — they only nudge ranking.
Give the examples: 'clinical' maps to Finishing, 'creative' to Vision, 'slow' to a Pace penalty. ~60 such patterns.
Emphasise the guardrail at the bottom: the parser is deterministic with a full token trace (great for transparency/debugging), and the LLM can only fill missing fields, never change what the user asked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ideas: how filtering combines constraints, and how survivors are scored.
Filtering: AND between different constraint types, OR within one type. Budget queries drop unknown/not-for-sale values on purpose.
Scoring: 80% from how well each constraint is satisfied, 20% from overall quality as a tie-break. The table shows the exact sub-score per signal type.
Key nuance: semantic similarity only enters the score for descriptive/no-constraint queries, so it never disturbs a precise stat query.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embedding model briefly: MiniLM, 384-dim, cached once.
The important design choice is what goes INTO the embedding text: only position, foot, style, and the top attributes — NOT name/nationality/age/club/value.
Reason (bottom strip): those identity facts are handled exactly by the filter, so we want similarity to mean 'plays like', not 'famous like'. Demo will show 'Turkish players like Haaland' as a constraint-aware similarity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no-paid-API point explicitly (instructor constraint): the LLM is local llama3.1 via Ollama, and every role has a rule-based fallback so the system runs without it.
Three roles: route the query, rewrite informal language into constraints, and generate the scouting report from retrieved rows only.
The third role IS the RAG step — and it sets up the next slide: how do we KNOW the generator didn't slip in a memorised real-world stat? That's grounding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Slow down here — this is our main contribution and the most likely Q&amp;A topic.
Mechanism: pull every number out of the generated text, check it against the retrieved rows, label grounded vs hallucinated, and return a grounding score plus the offending claims.
Why it matters: with synthetic FM24 data, the danger is the model importing a real-world stat it memorised. The verifier makes hallucination measurable and visible instead of hidden.
In the demo we will generate a report and show this score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CENTREPIECE — aim for 5-6 minutes here. Run from the live web UI, not a terminal.
Run order (each ~45-60s): (1) hard multi-constraint → point at the ranked list and that every result satisfies the numbers; (2) budget+style → show soft adjectives reordering; (3) GK attributes → show position-aware handling; (4) 'Turkish players like Haaland' → constraint-aware similarity; (5) impossible query → the explicit no-match message (honesty); (6) generate a grounded report and READ OUT the grounding score.
Narrate what to watch: the status pills (sem on / llm on), the ranked results, and the grounding badge.
BACKUP PLAN (if network/Ollama fails): run locally at http://localhost:8000 (LLM features fall back to rule-based but retrieval + grounding still work); if everything fails, show the cached outputs / screenshots from eval_results.csv. Full cue sheet is the last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protocol before showing numbers, so the metric is credible.
Named-target = take a real player, derive a query from THEIR FM24 stats, and check they surface in top-20 (Recall@20). Negative tests guard against false positives. Stress tests probe robustness.
Three baselines, and crucially: everything is reproducible from scoutrag_eval.py — the CSVs are in the repo. Make the 'no fabrication' point explicitly; the instructor values honesty.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headline: 74.7% Recall@20 over 95 queries, and it's fast (sub-100ms, CPU-only) with zero false positives.
Read the chart top-down: perfect on negatives, edge cases, age, and short queries; strong on GK and attribute coverage.
Then point at the bottom: similarity-to-unknown is 0% and long-strict is 50% — don't hide these, they motivate the error analysis two slides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charts. Left: constraint satisfaction — structured and hybrid enforce 100% of constraints, vector-only only 7.7% (it ignores hard limits). Right: ablation recall — structured and hybrid tie at 76.9%, semantic-only just 33.3%.
Then deliver the finding (green strip): hybrid = structured because semantic is gated AFTER filtering. The only place semantic-only wins is the 3 Messi queries where the filter wrongly returns nothing.
Architectural takeaway: add a semantic fallback when the structured set is empty. This is a real research-style insight, not just a metric.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instructor explicitly rewards honest failure analysis, so own these clearly.
Five modes, all traceable to specific tests: (1) similarity to a non-existent player, (2) nationality not in our 50-word dictionary, (3) the right player passes filters but ranks below 20, (4) a position+club+age combo produces an empty set, (5) the gating limitation from the last slide.
For each, we already know the fix — say that. It shows engineering maturity. Note that 3 of the 5 share one root remedy: a semantic fallback when the structured set is empty.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Mirror limitations to fixes so it reads as a roadmap, not a list of regrets.
Top limitation to say out loud: synthetic data means no real-scouting claims. Then the parser/architecture limits from the error analysis.
Future work: highlight that ONE change — semantic fallback on an empty filter set — fixes three of the five failure modes. That's the highest-leverage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three takeaways crisply: structured filtering carries recall; grounding verification catches fabrication; silent retrieval front-ends need a semantic fallback.
Then hand to Q&amp;A. Anticipate: Why not Text-to-SQL? (no executable SQL; honest framing). Why FM24? (accessible synthetic data to validate the pipeline). How does grounding handle qualitative claims? (it doesn't yet — regex/numeric only; future work).
Make sure all three members field at least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CS455 — LARGE LANGUAGE MODELS  ·  SPRING 2025/2026  ·  STANDARD TRACK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6384" y="146304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ScoutRAG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300" i="1" dirty="0">
                <a:solidFill>
                  <a:srgbClr val="D7E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Constrained Hybrid Structured-Symbolic &amp; Semantic Retrieval</a:t>
            </a:r>
            <a:endParaRPr lang="en-US" sz="23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300" i="1" dirty="0">
                <a:solidFill>
                  <a:srgbClr val="D7E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Football Player Scouting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6263640" cy="457200"/>
          </a:xfrm>
          <a:prstGeom prst="roundRect">
            <a:avLst>
              <a:gd name="adj" fmla="val 50000"/>
            </a:avLst>
          </a:prstGeom>
          <a:solidFill>
            <a:srgbClr val="152038"/>
          </a:solidFill>
          <a:ln w="12700">
            <a:solidFill>
              <a:srgbClr val="1E7A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F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FM24 game-export data — treated as a synthetic prototype, not real scouting data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Mustafa Ege Özer    ·    Umut Can Çubukçu    ·    Yiğit Onur Yılmaz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550468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E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github.com/umutcanc7/scoutrag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Scouting queries mix hard numbers, categories, and vague style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E9F3ED"/>
          </a:solidFill>
          <a:ln w="12700">
            <a:solidFill>
              <a:srgbClr val="1E7A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scout asks:  </a:t>
            </a:r>
            <a:r>
              <a:rPr lang="en-US" sz="1650" i="1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left-footed Turkish centre-back under 22 with tackling above 14, valued under €5M”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58368" y="27889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query blends hard numeric thresholds, categorical filters, a budget cap, and a subjective play-style — no single classical method handles all four.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345643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3456432" cy="82296"/>
          </a:xfrm>
          <a:prstGeom prst="rect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868680" y="368503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Pure SQL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4251960"/>
            <a:ext cx="2999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the user to know exact column names and write precise queries. Brittle for free-text, vague style.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61688" y="3429000"/>
            <a:ext cx="345643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Shape 10"/>
          <p:cNvSpPr/>
          <p:nvPr/>
        </p:nvSpPr>
        <p:spPr>
          <a:xfrm>
            <a:off x="4361688" y="3429000"/>
            <a:ext cx="3456432" cy="82296"/>
          </a:xfrm>
          <a:prstGeom prst="rect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4590288" y="368503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Pure vector search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90288" y="4251960"/>
            <a:ext cx="2999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“feel” but ignores hard constraints — returns players who break the age, budget, or stat limits.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83296" y="3429000"/>
            <a:ext cx="3456432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6" name="Shape 14"/>
          <p:cNvSpPr/>
          <p:nvPr/>
        </p:nvSpPr>
        <p:spPr>
          <a:xfrm>
            <a:off x="8083296" y="3429000"/>
            <a:ext cx="3456432" cy="82296"/>
          </a:xfrm>
          <a:prstGeom prst="rect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8311896" y="3685032"/>
            <a:ext cx="2999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 / LLM generation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11896" y="4251960"/>
            <a:ext cx="29992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Fluent reports, but fabricates statistics — the core hallucination risk on any dataset.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" y="55321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ScoutRAG’s answer: enforce the hard parts symbolically, order the vague parts semantically, and verify every cited number afterwards.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ScoutRAG · CS455 Large Language Models · Spring 2025/2026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556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HONESTY NOTE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FM24 export — a synthetic prototype, not real scouting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15184" cy="1051560"/>
          </a:xfrm>
          <a:prstGeom prst="roundRect">
            <a:avLst>
              <a:gd name="adj" fmla="val 5217"/>
            </a:avLst>
          </a:prstGeom>
          <a:solidFill>
            <a:srgbClr val="F4F7FA"/>
          </a:solidFill>
          <a:ln w="12700">
            <a:solidFill>
              <a:srgbClr val="D9E0EA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40080" y="1929384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7A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40,688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44144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(after cleaning)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65576" y="1783080"/>
            <a:ext cx="2615184" cy="1051560"/>
          </a:xfrm>
          <a:prstGeom prst="roundRect">
            <a:avLst>
              <a:gd name="adj" fmla="val 5217"/>
            </a:avLst>
          </a:prstGeom>
          <a:solidFill>
            <a:srgbClr val="F4F7FA"/>
          </a:solidFill>
          <a:ln w="12700">
            <a:solidFill>
              <a:srgbClr val="D9E0EA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3465576" y="1929384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7A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65576" y="244144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FM24 skill attributes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91072" y="1783080"/>
            <a:ext cx="2615184" cy="1051560"/>
          </a:xfrm>
          <a:prstGeom prst="roundRect">
            <a:avLst>
              <a:gd name="adj" fmla="val 5217"/>
            </a:avLst>
          </a:prstGeom>
          <a:solidFill>
            <a:srgbClr val="F4F7FA"/>
          </a:solidFill>
          <a:ln w="12700">
            <a:solidFill>
              <a:srgbClr val="D9E0EA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291072" y="1929384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7A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1–20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291072" y="244144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designer-set scale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16568" y="1783080"/>
            <a:ext cx="2615184" cy="1051560"/>
          </a:xfrm>
          <a:prstGeom prst="roundRect">
            <a:avLst>
              <a:gd name="adj" fmla="val 5217"/>
            </a:avLst>
          </a:prstGeom>
          <a:solidFill>
            <a:srgbClr val="F4F7FA"/>
          </a:solidFill>
          <a:ln w="12700">
            <a:solidFill>
              <a:srgbClr val="D9E0EA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9116568" y="1929384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7A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16568" y="2441448"/>
            <a:ext cx="2615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fields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58368" y="3108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frame it (per instructor feedback)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3232" y="352044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are designer-set GAME values — not validated real-world ability.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strictly as a synthetic / prototype validation tabular dataset.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Text-to-SQL — no executable SQL is generated anywhere.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framing: constrained hybrid structured-symbolic + semantic retrieval.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0" y="3154680"/>
            <a:ext cx="5148072" cy="2651760"/>
          </a:xfrm>
          <a:prstGeom prst="roundRect">
            <a:avLst>
              <a:gd name="adj" fmla="val 2069"/>
            </a:avLst>
          </a:prstGeom>
          <a:solidFill>
            <a:srgbClr val="E9F3ED"/>
          </a:solidFill>
          <a:ln w="12700">
            <a:solidFill>
              <a:srgbClr val="1E7A46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629400" y="331012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7A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acquisition (CS455 §8)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75120" y="3730752"/>
            <a:ext cx="46634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in-game scouting-view export (RTF) on a licensed copy → CSV.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web scraping, no third-party tools, no ToS violation.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are synthetic game data — no personal data, so no GDPR/anonymisation obligation.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Cleaning: 42,583 raw rows → 40,688 (removed 1,895 invalid-name engine slots, 4.5%).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ScoutRAG · CS455 Large Language Models · Spring 2025/2026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556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What’s in the data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7373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57 attributes across four families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7432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841248" y="2414016"/>
            <a:ext cx="201168" cy="201168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143000" y="23408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59536" y="2798064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Finishing, Passing, Dribbling, Tackling, Heading…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84448" y="2194560"/>
            <a:ext cx="27432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3785616" y="2414016"/>
            <a:ext cx="201168" cy="201168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087368" y="234086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803904" y="2798064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Decisions, Determination, Off the Ball…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767328"/>
            <a:ext cx="27432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Shape 12"/>
          <p:cNvSpPr/>
          <p:nvPr/>
        </p:nvSpPr>
        <p:spPr>
          <a:xfrm>
            <a:off x="841248" y="3986784"/>
            <a:ext cx="201168" cy="201168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1143000" y="39136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59536" y="4370832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Pace, Acceleration, Strength, Stamina, Agility…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584448" y="3767328"/>
            <a:ext cx="27432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3785616" y="3986784"/>
            <a:ext cx="201168" cy="201168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4087368" y="39136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Goalkeeper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3803904" y="4370832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Reflexes, Aerial Reach, Handling, One-on-Ones…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0" y="2194560"/>
            <a:ext cx="4965192" cy="3145536"/>
          </a:xfrm>
          <a:prstGeom prst="roundRect">
            <a:avLst>
              <a:gd name="adj" fmla="val 1744"/>
            </a:avLst>
          </a:prstGeom>
          <a:solidFill>
            <a:srgbClr val="F4F7FA"/>
          </a:solidFill>
          <a:ln w="12700">
            <a:solidFill>
              <a:srgbClr val="D9E0EA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812280" y="234086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facts (after cleaning)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830568" y="2761488"/>
            <a:ext cx="4526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 </a:t>
            </a: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22, range 15–56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value:  </a:t>
            </a: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€100K, max €356M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(computed):  </a:t>
            </a: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9.1 on the 1–20 scale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/ wage:  </a:t>
            </a: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for some not-for-sale players → excluded from budget filters by design</a:t>
            </a:r>
            <a:endParaRPr lang="en-US" sz="130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fields:  </a:t>
            </a: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nationality, club, league, foot, position, status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8368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Designer-set values — used to validate the pipeline, not to rank real players.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ScoutRAG · CS455 Large Language Models · Spring 2025/2026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components, one shared engine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670048" cy="274320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896112" y="2103120"/>
            <a:ext cx="566928" cy="566928"/>
          </a:xfrm>
          <a:prstGeom prst="ellipse">
            <a:avLst/>
          </a:prstGeom>
          <a:solidFill>
            <a:srgbClr val="1E2A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96112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59536" y="2834640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Natural-language parser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59536" y="3456432"/>
            <a:ext cx="2231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 → structured constraints. Deterministic regex passes + optional LLM rewrite.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56432" y="1828800"/>
            <a:ext cx="2670048" cy="274320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0" name="Shape 8"/>
          <p:cNvSpPr/>
          <p:nvPr/>
        </p:nvSpPr>
        <p:spPr>
          <a:xfrm>
            <a:off x="3712464" y="2103120"/>
            <a:ext cx="566928" cy="566928"/>
          </a:xfrm>
          <a:prstGeom prst="ellipse">
            <a:avLst/>
          </a:prstGeom>
          <a:solidFill>
            <a:srgbClr val="1E2A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3712464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75888" y="2834640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Symbolic filter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75888" y="3456432"/>
            <a:ext cx="2231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every hard constraint exactly. One failed condition excludes the player.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72784" y="1828800"/>
            <a:ext cx="2670048" cy="2743200"/>
          </a:xfrm>
          <a:prstGeom prst="roundRect">
            <a:avLst>
              <a:gd name="adj" fmla="val 2055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Shape 13"/>
          <p:cNvSpPr/>
          <p:nvPr/>
        </p:nvSpPr>
        <p:spPr>
          <a:xfrm>
            <a:off x="6528816" y="2103120"/>
            <a:ext cx="566928" cy="566928"/>
          </a:xfrm>
          <a:prstGeom prst="ellipse">
            <a:avLst/>
          </a:prstGeom>
          <a:solidFill>
            <a:srgbClr val="1E2A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528816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92240" y="2834640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re-ranker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92240" y="3456432"/>
            <a:ext cx="2231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 embeddings order players by play-style similarity.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89136" y="1828800"/>
            <a:ext cx="2670048" cy="2743200"/>
          </a:xfrm>
          <a:prstGeom prst="roundRect">
            <a:avLst>
              <a:gd name="adj" fmla="val 2055"/>
            </a:avLst>
          </a:prstGeom>
          <a:solidFill>
            <a:srgbClr val="E9F3ED"/>
          </a:solidFill>
          <a:ln w="12700">
            <a:solidFill>
              <a:srgbClr val="1E7A46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9345168" y="2103120"/>
            <a:ext cx="566928" cy="566928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934516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308592" y="2834640"/>
            <a:ext cx="22311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Grounding verifier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08592" y="3456432"/>
            <a:ext cx="22311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every cited number in a generated report against the retrieved rows — our key contribution.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8368" y="48920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three interfaces.  </a:t>
            </a:r>
            <a:r>
              <a:rPr lang="en-US" sz="14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scoutrag/  is shared by a Jupyter notebook, a FastAPI backend, and a static HTML/JS chat UI — identical behaviour everywhere.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ScoutRAG · CS455 Large Language Models · Spring 2025/2026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1556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591056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1E2A52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76656" y="2148840"/>
            <a:ext cx="1517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35708" y="229514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514600" y="2148840"/>
            <a:ext cx="1591056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1E2A52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2551176" y="2148840"/>
            <a:ext cx="1517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routing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110228" y="229514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89120" y="2148840"/>
            <a:ext cx="1591056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1E2A52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4425696" y="2148840"/>
            <a:ext cx="1517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parsing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84748" y="229514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63640" y="2148840"/>
            <a:ext cx="1591056" cy="749808"/>
          </a:xfrm>
          <a:prstGeom prst="roundRect">
            <a:avLst>
              <a:gd name="adj" fmla="val 6098"/>
            </a:avLst>
          </a:prstGeom>
          <a:solidFill>
            <a:srgbClr val="1E2A52"/>
          </a:solidFill>
          <a:ln w="15875">
            <a:solidFill>
              <a:srgbClr val="1E2A52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5" name="Text 13"/>
          <p:cNvSpPr/>
          <p:nvPr/>
        </p:nvSpPr>
        <p:spPr>
          <a:xfrm>
            <a:off x="6300216" y="2148840"/>
            <a:ext cx="1517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filter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59268" y="229514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138160" y="2148840"/>
            <a:ext cx="1591056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1E2A52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8174736" y="2148840"/>
            <a:ext cx="1517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+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re-rank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733788" y="229514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10012680" y="2148840"/>
            <a:ext cx="1591056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5875">
            <a:solidFill>
              <a:srgbClr val="1E2A52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10049256" y="2148840"/>
            <a:ext cx="15179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results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299923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Intent: info / similar / search   ·   Hard constraints enforced strictly   ·   semantic added only for descriptive queries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0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008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 +  GROUNDING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60120" y="4023360"/>
            <a:ext cx="2331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1E2A52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996696" y="402336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results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310128" y="4206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602736" y="4023360"/>
            <a:ext cx="2331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1E2A52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9" name="Text 27"/>
          <p:cNvSpPr/>
          <p:nvPr/>
        </p:nvSpPr>
        <p:spPr>
          <a:xfrm>
            <a:off x="3639312" y="402336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report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(RAG generation)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952744" y="4206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245352" y="4023360"/>
            <a:ext cx="2331720" cy="822960"/>
          </a:xfrm>
          <a:prstGeom prst="roundRect">
            <a:avLst>
              <a:gd name="adj" fmla="val 5556"/>
            </a:avLst>
          </a:prstGeom>
          <a:solidFill>
            <a:srgbClr val="1E7A46"/>
          </a:solidFill>
          <a:ln w="15875">
            <a:solidFill>
              <a:srgbClr val="1E7A46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2" name="Text 30"/>
          <p:cNvSpPr/>
          <p:nvPr/>
        </p:nvSpPr>
        <p:spPr>
          <a:xfrm>
            <a:off x="6281928" y="402336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95360" y="4206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8887968" y="4023360"/>
            <a:ext cx="23317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1E2A52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5" name="Text 33"/>
          <p:cNvSpPr/>
          <p:nvPr/>
        </p:nvSpPr>
        <p:spPr>
          <a:xfrm>
            <a:off x="8924544" y="4023360"/>
            <a:ext cx="22585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scouting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0080" y="525780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F4F7FA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7" name="Text 35"/>
          <p:cNvSpPr/>
          <p:nvPr/>
        </p:nvSpPr>
        <p:spPr>
          <a:xfrm>
            <a:off x="822960" y="5321808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Guardrail.  </a:t>
            </a:r>
            <a:r>
              <a:rPr lang="en-US" sz="11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can never invent or drop a hard constraint — the user’s query is authoritative. It may only fill a missing position/nationality/club.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199632" y="5257800"/>
            <a:ext cx="5349240" cy="868680"/>
          </a:xfrm>
          <a:prstGeom prst="roundRect">
            <a:avLst>
              <a:gd name="adj" fmla="val 6316"/>
            </a:avLst>
          </a:prstGeom>
          <a:solidFill>
            <a:srgbClr val="E9F3ED"/>
          </a:solidFill>
          <a:ln w="12700">
            <a:solidFill>
              <a:srgbClr val="1E7A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39" name="Text 37"/>
          <p:cNvSpPr/>
          <p:nvPr/>
        </p:nvSpPr>
        <p:spPr>
          <a:xfrm>
            <a:off x="6382512" y="5321808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contribution.  </a:t>
            </a:r>
            <a:r>
              <a:rPr lang="en-US" sz="11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Grounding verification checks every cited number against the retrieved rows and reports a grounding score.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ScoutRAG · CS455 Large Language Models · Spring 2025/2026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1556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QUERY PARSING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constraints vs. soft signals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30952" cy="2697480"/>
          </a:xfrm>
          <a:prstGeom prst="roundRect">
            <a:avLst>
              <a:gd name="adj" fmla="val 2034"/>
            </a:avLst>
          </a:prstGeom>
          <a:solidFill>
            <a:srgbClr val="FFFFFF"/>
          </a:solidFill>
          <a:ln w="12700">
            <a:solidFill>
              <a:srgbClr val="1E2A52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330952" cy="91440"/>
          </a:xfrm>
          <a:prstGeom prst="rect">
            <a:avLst/>
          </a:prstGeom>
          <a:solidFill>
            <a:srgbClr val="1E2A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68680" y="2066544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constraints → strict filter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68680" y="2578608"/>
            <a:ext cx="4873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900"/>
              </a:spcAft>
              <a:buNone/>
            </a:pPr>
            <a:r>
              <a:rPr lang="en-US" sz="13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&lt; 22 · passing ≥ 15 · value &lt; €5M</a:t>
            </a:r>
            <a:endParaRPr lang="en-US" sz="13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· nationality · club · foot</a:t>
            </a:r>
            <a:endParaRPr lang="en-US" sz="13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patterns → both ≥ and ≤ (e.g. passing 10–17).</a:t>
            </a:r>
            <a:endParaRPr lang="en-US" sz="13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single failure excludes the player.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30952" cy="2697480"/>
          </a:xfrm>
          <a:prstGeom prst="roundRect">
            <a:avLst>
              <a:gd name="adj" fmla="val 2034"/>
            </a:avLst>
          </a:prstGeom>
          <a:solidFill>
            <a:srgbClr val="E9F3ED"/>
          </a:solidFill>
          <a:ln w="12700">
            <a:solidFill>
              <a:srgbClr val="1E7A46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30952" cy="91440"/>
          </a:xfrm>
          <a:prstGeom prst="rect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446520" y="2066544"/>
            <a:ext cx="4873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7A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 signals → ranking only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446520" y="2578608"/>
            <a:ext cx="487375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900"/>
              </a:spcAft>
              <a:buNone/>
            </a:pPr>
            <a:r>
              <a:rPr lang="en-US" sz="13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“clinical” → Finishing +</a:t>
            </a:r>
            <a:endParaRPr lang="en-US" sz="13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“creative” → Vision +</a:t>
            </a:r>
            <a:endParaRPr lang="en-US" sz="13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“slow” → Pace −</a:t>
            </a:r>
            <a:endParaRPr lang="en-US" sz="13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adjective patterns steer the score — they never filter players out.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800600"/>
            <a:ext cx="10908792" cy="1051560"/>
          </a:xfrm>
          <a:prstGeom prst="roundRect">
            <a:avLst>
              <a:gd name="adj" fmla="val 5217"/>
            </a:avLst>
          </a:prstGeom>
          <a:solidFill>
            <a:srgbClr val="F4F7FA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868680" y="4882896"/>
            <a:ext cx="10424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&amp; transparent.  </a:t>
            </a: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is a sequence of regex passes with a trace of every extracted token. Club matching is accent-insensitive (“Fenerbahce” → “Fenerbahçe”). The LLM rewrite may only fill a missing field — it can never override a constraint the user stated.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ScoutRAG · CS455 Large Language Models · Spring 2025/2026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556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FILTERING &amp; RANKING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Strict filtering, then position-aware ranking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logic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across slots, OR within a slot (multiple nationalities, ages, positions, clubs).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queries exclude not-for-sale / unknown-value rows by design.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Position-aware: GK-only attributes never score outfield players, and vice versa.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3840480"/>
            <a:ext cx="5212080" cy="1874520"/>
          </a:xfrm>
          <a:prstGeom prst="roundRect">
            <a:avLst>
              <a:gd name="adj" fmla="val 3415"/>
            </a:avLst>
          </a:prstGeom>
          <a:solidFill>
            <a:srgbClr val="1E2A52"/>
          </a:solidFill>
          <a:ln w="12700">
            <a:solidFill>
              <a:srgbClr val="1E2A52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68680" y="39867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9E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Ranking score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4334256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match_score =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 × constraint_score  +  0.2 × quality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68680" y="5074920"/>
            <a:ext cx="4800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constraint_score = mean of per-signal sub-scores in [0,1]; quality = Overall normalised (a 20% tie-breaker).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172200" y="1783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Sub-score formulas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2148840"/>
          <a:ext cx="5376672" cy="2944368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Sub-score in [0,1]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≥ / 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 − thr) / (20 − thr)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≤ / &lt;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(thr − v) / (thr − 1)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= (exact)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 (already filtered)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+  (prefer high)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/ 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 −  (prefer low)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1 − v / 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(cosine)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min–max scaled; descriptive queries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ScoutRAG · CS455 Large Language Models · Spring 2025/2026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556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SEMANTIC RETRIEVAL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Embeddings capture how a player plays — not who they 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828800"/>
            <a:ext cx="5532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— 384-dim, L2-normalised sentence embeddings.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once and cached (indexed by raw row id, re-aligned after cleaning).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scoring only for descriptive / no-constraint queries.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Constraint-aware similarity: “Turkish players like Haaland” filters to Turkish first, then ranks by similarity.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46520" y="1828800"/>
            <a:ext cx="2505456" cy="3108960"/>
          </a:xfrm>
          <a:prstGeom prst="roundRect">
            <a:avLst>
              <a:gd name="adj" fmla="val 2190"/>
            </a:avLst>
          </a:prstGeom>
          <a:solidFill>
            <a:srgbClr val="E9F3ED"/>
          </a:solidFill>
          <a:ln w="12700">
            <a:solidFill>
              <a:srgbClr val="1E7A46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6583680" y="197510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7A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embed_text  INCLUDES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56832" y="2487168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style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top-8 attributes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043416" y="1828800"/>
            <a:ext cx="2505456" cy="3108960"/>
          </a:xfrm>
          <a:prstGeom prst="roundRect">
            <a:avLst>
              <a:gd name="adj" fmla="val 2190"/>
            </a:avLst>
          </a:prstGeom>
          <a:solidFill>
            <a:srgbClr val="F4F7FA"/>
          </a:solidFill>
          <a:ln w="12700">
            <a:solidFill>
              <a:srgbClr val="D9E0EA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9180576" y="197510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EXCLUDES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253728" y="2487168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5212080"/>
            <a:ext cx="10908792" cy="868680"/>
          </a:xfrm>
          <a:prstGeom prst="roundRect">
            <a:avLst>
              <a:gd name="adj" fmla="val 6316"/>
            </a:avLst>
          </a:prstGeom>
          <a:solidFill>
            <a:srgbClr val="F4F7FA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868680" y="528523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exclude identity?  </a:t>
            </a: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facts are enforced precisely by the structured filter — so similarity should reflect play-style, not names. This keeps “players like X” about style rather than fame.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ScoutRAG · CS455 Large Language Models · Spring 2025/2026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1556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· LLM INTEGRATION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LLM has three optional roles — all degrade gracefully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69164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llama3.1 via Ollama — no paid API, fully offline. If Ollama is down, rule-based fallbacks take over and everything still runs.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529584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6" name="Shape 4"/>
          <p:cNvSpPr/>
          <p:nvPr/>
        </p:nvSpPr>
        <p:spPr>
          <a:xfrm>
            <a:off x="877824" y="2542032"/>
            <a:ext cx="457200" cy="457200"/>
          </a:xfrm>
          <a:prstGeom prst="ellipse">
            <a:avLst/>
          </a:prstGeom>
          <a:solidFill>
            <a:srgbClr val="1E2A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877824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63040" y="256032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 routing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77824" y="3200400"/>
            <a:ext cx="30723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info / similar / search and extracts fields via a JSON-output prompt with few-shot FM24 examples.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77824" y="4498848"/>
            <a:ext cx="3054096" cy="384048"/>
          </a:xfrm>
          <a:prstGeom prst="roundRect">
            <a:avLst>
              <a:gd name="adj" fmla="val 47619"/>
            </a:avLst>
          </a:prstGeom>
          <a:solidFill>
            <a:srgbClr val="E9F3ED"/>
          </a:solidFill>
          <a:ln w="9525">
            <a:solidFill>
              <a:srgbClr val="1E7A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877824" y="449884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regex heuristics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25112" y="2286000"/>
            <a:ext cx="3529584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4562856" y="2542032"/>
            <a:ext cx="457200" cy="457200"/>
          </a:xfrm>
          <a:prstGeom prst="ellipse">
            <a:avLst/>
          </a:prstGeom>
          <a:solidFill>
            <a:srgbClr val="1E2A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562856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148072" y="256032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Query rewriting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4562856" y="3200400"/>
            <a:ext cx="30723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informal phrasing (“a tireless engine”) into constraints. May only fill missing fields — never overrides the user.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62856" y="4498848"/>
            <a:ext cx="3054096" cy="384048"/>
          </a:xfrm>
          <a:prstGeom prst="roundRect">
            <a:avLst>
              <a:gd name="adj" fmla="val 47619"/>
            </a:avLst>
          </a:prstGeom>
          <a:solidFill>
            <a:srgbClr val="E9F3ED"/>
          </a:solidFill>
          <a:ln w="9525">
            <a:solidFill>
              <a:srgbClr val="1E7A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4562856" y="449884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rule-based parser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010144" y="2286000"/>
            <a:ext cx="3529584" cy="278892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0" name="Shape 18"/>
          <p:cNvSpPr/>
          <p:nvPr/>
        </p:nvSpPr>
        <p:spPr>
          <a:xfrm>
            <a:off x="8247888" y="2542032"/>
            <a:ext cx="457200" cy="457200"/>
          </a:xfrm>
          <a:prstGeom prst="ellipse">
            <a:avLst/>
          </a:prstGeom>
          <a:solidFill>
            <a:srgbClr val="1E2A52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8247888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8833104" y="2560320"/>
            <a:ext cx="2523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 generation (RAG)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247888" y="3200400"/>
            <a:ext cx="3072384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scouting narrative only from the retrieved rows; explicitly forbidden from using memorised statistics.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247888" y="4498848"/>
            <a:ext cx="3054096" cy="384048"/>
          </a:xfrm>
          <a:prstGeom prst="roundRect">
            <a:avLst>
              <a:gd name="adj" fmla="val 47619"/>
            </a:avLst>
          </a:prstGeom>
          <a:solidFill>
            <a:srgbClr val="E9F3ED"/>
          </a:solidFill>
          <a:ln w="9525">
            <a:solidFill>
              <a:srgbClr val="1E7A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Text 23"/>
          <p:cNvSpPr/>
          <p:nvPr/>
        </p:nvSpPr>
        <p:spPr>
          <a:xfrm>
            <a:off x="8247888" y="4498848"/>
            <a:ext cx="3054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deterministic template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8368" y="53035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 one line: retrieval feeds generation, and the generator is grounded in — and limited to — the rows we retrieved.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ScoutRAG · CS455 Large Language Models · Spring 2025/2026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556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Post-generation grounding verification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6583680" cy="4069080"/>
          </a:xfrm>
          <a:prstGeom prst="roundRect">
            <a:avLst>
              <a:gd name="adj" fmla="val 1348"/>
            </a:avLst>
          </a:prstGeom>
          <a:solidFill>
            <a:srgbClr val="E9F3ED"/>
          </a:solidFill>
          <a:ln w="12700">
            <a:solidFill>
              <a:srgbClr val="1E7A46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68680" y="1938528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7A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6035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every numeric claim from the generated report (regex over the attribute vocabulary).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each claimed value in the retrieved rows.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claim as grounded or hallucinated.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the specific list of any ungrounded claims for inspection.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4526280"/>
            <a:ext cx="598932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5875">
            <a:solidFill>
              <a:srgbClr val="1E7A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914400" y="4681728"/>
            <a:ext cx="5989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A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grounding_score  =  1 − (hallucinated / total_checked)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5193792"/>
            <a:ext cx="5989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= every cited number traces back to a retrieved row.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498080" y="193852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0" y="2377440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may quietly substitute a real-world statistic for FM24’s designer value.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synthetic dataset that is the central failure mode — and the verifier catches it automatically.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turns “trust the model” into a checkable, reportable number.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ScoutRAG · CS455 Large Language Models · Spring 2025/2026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1556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E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6384" y="10515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ScoutRAG running live on varied inputs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web UI (FastAPI backend + chat front-end). Watch the status pills — “sem on”, “llm on”.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5330952" cy="1078992"/>
          </a:xfrm>
          <a:prstGeom prst="roundRect">
            <a:avLst>
              <a:gd name="adj" fmla="val 5085"/>
            </a:avLst>
          </a:prstGeom>
          <a:solidFill>
            <a:srgbClr val="152038"/>
          </a:solidFill>
          <a:ln w="12700">
            <a:solidFill>
              <a:srgbClr val="1E7A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1024128" y="2542032"/>
            <a:ext cx="4928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9E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Hard multi-constraint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24128" y="288036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“Nigerian striker with pace ≥ 18 and finishing ≥ 16 under 25”  → Osimhen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0" y="2423160"/>
            <a:ext cx="5330952" cy="1078992"/>
          </a:xfrm>
          <a:prstGeom prst="roundRect">
            <a:avLst>
              <a:gd name="adj" fmla="val 5085"/>
            </a:avLst>
          </a:prstGeom>
          <a:solidFill>
            <a:srgbClr val="152038"/>
          </a:solidFill>
          <a:ln w="12700">
            <a:solidFill>
              <a:srgbClr val="1E7A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601968" y="2542032"/>
            <a:ext cx="4928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9E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Budget + style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601968" y="2880360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clinical, left-footed striker under 21 valued below €10M”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648456"/>
            <a:ext cx="5330952" cy="1078992"/>
          </a:xfrm>
          <a:prstGeom prst="roundRect">
            <a:avLst>
              <a:gd name="adj" fmla="val 5085"/>
            </a:avLst>
          </a:prstGeom>
          <a:solidFill>
            <a:srgbClr val="152038"/>
          </a:solidFill>
          <a:ln w="12700">
            <a:solidFill>
              <a:srgbClr val="1E7A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1024128" y="3767328"/>
            <a:ext cx="4928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9E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Goalkeeper attributes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24128" y="4105656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“goalkeeper with aerial reach ≥ 19 and reflexes ≥ 18”  → Courtois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3648456"/>
            <a:ext cx="5330952" cy="1078992"/>
          </a:xfrm>
          <a:prstGeom prst="roundRect">
            <a:avLst>
              <a:gd name="adj" fmla="val 5085"/>
            </a:avLst>
          </a:prstGeom>
          <a:solidFill>
            <a:srgbClr val="152038"/>
          </a:solidFill>
          <a:ln w="12700">
            <a:solidFill>
              <a:srgbClr val="1E7A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601968" y="3767328"/>
            <a:ext cx="4928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9E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 Constraint-aware similarity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01968" y="4105656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“Turkish players like Haaland”  → filters Turkish, ranks by style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4873752"/>
            <a:ext cx="5330952" cy="1078992"/>
          </a:xfrm>
          <a:prstGeom prst="roundRect">
            <a:avLst>
              <a:gd name="adj" fmla="val 5085"/>
            </a:avLst>
          </a:prstGeom>
          <a:solidFill>
            <a:srgbClr val="152038"/>
          </a:solidFill>
          <a:ln w="12700">
            <a:solidFill>
              <a:srgbClr val="1E7A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1024128" y="4992624"/>
            <a:ext cx="4928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9E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 Honest no-match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024128" y="5330952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impossible query → explicit “no player like that in our database”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0" y="4873752"/>
            <a:ext cx="5330952" cy="1078992"/>
          </a:xfrm>
          <a:prstGeom prst="roundRect">
            <a:avLst>
              <a:gd name="adj" fmla="val 5085"/>
            </a:avLst>
          </a:prstGeom>
          <a:solidFill>
            <a:srgbClr val="152038"/>
          </a:solidFill>
          <a:ln w="12700">
            <a:solidFill>
              <a:srgbClr val="1E7A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601968" y="4992624"/>
            <a:ext cx="4928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E9E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  Grounded report + check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601968" y="5330952"/>
            <a:ext cx="49286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scouting report, then show the grounding score live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ScoutRAG · CS455 Large Language Models · Spring 2025/2026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556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 queries, 12 categories, top-k = 20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9584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529584" cy="82296"/>
          </a:xfrm>
          <a:prstGeom prst="rect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59536" y="2084832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Named-target tests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59536" y="2615184"/>
            <a:ext cx="3090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are derived from a real player’s own FM24 values; the test passes if that player appears in the top-20 → Recall@20.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25112" y="1828800"/>
            <a:ext cx="3529584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4325112" y="1828800"/>
            <a:ext cx="3529584" cy="82296"/>
          </a:xfrm>
          <a:prstGeom prst="rect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4544568" y="2084832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Negative tests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44568" y="2615184"/>
            <a:ext cx="3090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Non-existent names must return empty results — no false positives.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10144" y="1828800"/>
            <a:ext cx="3529584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8010144" y="1828800"/>
            <a:ext cx="3529584" cy="82296"/>
          </a:xfrm>
          <a:prstGeom prst="rect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229600" y="2084832"/>
            <a:ext cx="3090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 tests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2615184"/>
            <a:ext cx="3090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Impossible constraints, contradictory conditions, and very long narrative queries.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5349240" cy="1508760"/>
          </a:xfrm>
          <a:prstGeom prst="roundRect">
            <a:avLst>
              <a:gd name="adj" fmla="val 3636"/>
            </a:avLst>
          </a:prstGeom>
          <a:solidFill>
            <a:srgbClr val="F4F7FA"/>
          </a:solidFill>
          <a:ln w="12700">
            <a:solidFill>
              <a:srgbClr val="D9E0EA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868680" y="4480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Baselines compared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8463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structured-filter-only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vector-retrieval-only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(ScoutRAG)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99632" y="4343400"/>
            <a:ext cx="5349240" cy="1508760"/>
          </a:xfrm>
          <a:prstGeom prst="roundRect">
            <a:avLst>
              <a:gd name="adj" fmla="val 3636"/>
            </a:avLst>
          </a:prstGeom>
          <a:solidFill>
            <a:srgbClr val="E9F3ED"/>
          </a:solidFill>
          <a:ln w="12700">
            <a:solidFill>
              <a:srgbClr val="1E7A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0" name="Text 18"/>
          <p:cNvSpPr/>
          <p:nvPr/>
        </p:nvSpPr>
        <p:spPr>
          <a:xfrm>
            <a:off x="6428232" y="4480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7A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Fully reproducible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28232" y="484632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scoutrag_eval.py produces every number → eval_results.csv and ablation.csv are in the repo. No results were fabricated; all tables trace to raw outputs.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ScoutRAG · CS455 Large Language Models · Spring 2025/2026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556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· 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77.9% overall Recall@20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46120" cy="1207008"/>
          </a:xfrm>
          <a:prstGeom prst="roundRect">
            <a:avLst>
              <a:gd name="adj" fmla="val 4545"/>
            </a:avLst>
          </a:prstGeom>
          <a:solidFill>
            <a:srgbClr val="E9F3ED"/>
          </a:solidFill>
          <a:ln w="12700">
            <a:solidFill>
              <a:srgbClr val="1E7A46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640080" y="191109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7A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77.9%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4414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Recall@20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 / 95 queries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3246120" cy="1207008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12700">
            <a:solidFill>
              <a:srgbClr val="D9E0EA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640080" y="328269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~0.075s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40080" y="3813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latency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0690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CPU-only, 40,688 rows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4526280"/>
            <a:ext cx="3246120" cy="1207008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12700">
            <a:solidFill>
              <a:srgbClr val="D9E0EA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40080" y="4654296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13/20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40080" y="51846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tests pass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54406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false positives · 5 in live app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4160520" y="1691640"/>
          <a:ext cx="740664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ScoutRAG · CS455 Large Language Models · Spring 2025/2026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1556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· BASELINES &amp; ABLATION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equals structured-only — and that is the finding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Constraint satisfaction</a:t>
            </a:r>
            <a:endParaRPr lang="en-US" sz="15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40080" y="2103120"/>
          <a:ext cx="53492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199632" y="173736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 · Recall@20 (39 named-target queries)</a:t>
            </a:r>
            <a:endParaRPr lang="en-US" sz="15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6199632" y="2103120"/>
          <a:ext cx="534924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Shape 4"/>
          <p:cNvSpPr/>
          <p:nvPr/>
        </p:nvSpPr>
        <p:spPr>
          <a:xfrm>
            <a:off x="640080" y="4983480"/>
            <a:ext cx="10908792" cy="1097280"/>
          </a:xfrm>
          <a:prstGeom prst="roundRect">
            <a:avLst>
              <a:gd name="adj" fmla="val 5000"/>
            </a:avLst>
          </a:prstGeom>
          <a:solidFill>
            <a:srgbClr val="E9F3ED"/>
          </a:solidFill>
          <a:ln w="12700">
            <a:solidFill>
              <a:srgbClr val="1E7A46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9" name="Text 5"/>
          <p:cNvSpPr/>
          <p:nvPr/>
        </p:nvSpPr>
        <p:spPr>
          <a:xfrm>
            <a:off x="868680" y="5065776"/>
            <a:ext cx="10469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finding.  </a:t>
            </a:r>
            <a:r>
              <a:rPr lang="en-US" sz="125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is gated behind the structured filter, so hybrid recall is bounded by structured recall. On the three Messi queries the position filter excludes the target — “attacking midfielder” becomes token AM (C), which never substring-matches Messi’s compound AM (RC), ST (C) — so semantic-only beats hybrid. </a:t>
            </a:r>
            <a:r>
              <a:rPr lang="en-US" sz="1250" b="1" dirty="0">
                <a:solidFill>
                  <a:srgbClr val="1E2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a structured pipeline needs a semantic fallback when the filter set is too narrow or empty.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ScoutRAG · CS455 Large Language Models · Spring 2025/2026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1556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LIMITATIONS · ERROR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it fails — and why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08792" cy="274320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Failure 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Failing 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 → 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 similarity reference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 0/5 · app 2/5 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reference falls through to search; the not-found guard fires only when the query has no other constraint — a position word bypasses it → return not-found for a missing reference.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Compound position missed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Messi ×3, Kent ×2, Tadić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like “AM (C)”/“AM (R)” never substring-match compound positions — Messi “AM (RC)”, Kent/Tadić “AM (RLC)” → enumerate compound AM/M/ST tokens.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Flawed test premise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Pedri ×2, Szymański, Yüksek, Messi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contradicts the target’s real FM24 data — Pedri &amp; Yüksek right-footed, Szymański vision 12, Messi age 36 → correct rejection; fix the test, not the engine.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Parser over-extraction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Džeko, Rodri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“Turkish Super League” parsed as nationality Turkish; “prime years” → hard age ≥ 28 → split league vs nationality, keep soft phrases soft.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gating limitation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431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 returns 0 → semantic has no pool to re-rank → semantic fallback on empty struct set.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58368" y="576072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negatives.  </a:t>
            </a: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real failing tests from the suite — each has a concrete, identified fix. We report them rather than hiding them.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ScoutRAG · CS455 Large Language Models · Spring 2025/2026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1556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2062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is not — and what comes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931920"/>
          </a:xfrm>
          <a:prstGeom prst="roundRect">
            <a:avLst>
              <a:gd name="adj" fmla="val 1395"/>
            </a:avLst>
          </a:prstGeom>
          <a:solidFill>
            <a:srgbClr val="F4F7FA"/>
          </a:solidFill>
          <a:ln w="12700">
            <a:solidFill>
              <a:srgbClr val="D9E0EA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5" name="Text 3"/>
          <p:cNvSpPr/>
          <p:nvPr/>
        </p:nvSpPr>
        <p:spPr>
          <a:xfrm>
            <a:off x="868680" y="19933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(honest)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designer-set values — not usable for real scouting without a validated dataset.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Nationality parser covers only ~50 demonyms; rare variants are silently ignored.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Gating architecture stops semantic search from recovering filter failures.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to a non-existent reference falls through silently.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grounding can’t catch paraphrased or qualitative claims.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9632" y="1828800"/>
            <a:ext cx="5349240" cy="3931920"/>
          </a:xfrm>
          <a:prstGeom prst="roundRect">
            <a:avLst>
              <a:gd name="adj" fmla="val 1395"/>
            </a:avLst>
          </a:prstGeom>
          <a:solidFill>
            <a:srgbClr val="E9F3ED"/>
          </a:solidFill>
          <a:ln w="12700">
            <a:solidFill>
              <a:srgbClr val="1E7A46"/>
            </a:solidFill>
            <a:prstDash val="solid"/>
          </a:ln>
          <a:effectLst>
            <a:outerShdw blurRad="88900" dist="38100" dir="5400000" algn="bl" rotWithShape="0">
              <a:srgbClr val="1E2A52">
                <a:alpha val="10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6428232" y="19933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7A4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73952" y="242316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fallback when the structured set is empty (fixes 3 of 5 failures).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nationality / demonym dictionary.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“reference not found” guard for similarity queries.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Domain-adapted play-style embeddings.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43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constraint refinement (conversational scouting).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ScoutRAG · CS455 Large Language Models · Spring 2025/2026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0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A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E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6384" y="105156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Symbolic precision + semantic ordering + grounded generation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2505456"/>
            <a:ext cx="384048" cy="384048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Text 4"/>
          <p:cNvSpPr/>
          <p:nvPr/>
        </p:nvSpPr>
        <p:spPr>
          <a:xfrm>
            <a:off x="82296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24231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filtering drives recall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417320" y="283464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the dominant recall driver (84.6%); semantic re-ranking orders play-style within the filtered pool.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22960" y="3584448"/>
            <a:ext cx="384048" cy="384048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82296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350215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Grounding verification catches fabrication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417320" y="3913632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when applying an LLM to a synthetic dataset — it makes hallucination a measurable number.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663440"/>
            <a:ext cx="384048" cy="384048"/>
          </a:xfrm>
          <a:prstGeom prst="ellipse">
            <a:avLst/>
          </a:prstGeom>
          <a:solidFill>
            <a:srgbClr val="1E7A46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22960" y="4663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17320" y="458114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Silent front-ends need a fallback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417320" y="499262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retrieval can fail silently, a semantic fallback is a necessity, not a luxury — our main architectural lesson.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welcome.    </a:t>
            </a:r>
            <a:r>
              <a:rPr lang="en-US" sz="1400" dirty="0">
                <a:solidFill>
                  <a:srgbClr val="2E9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github.com/umutcanc7/scoutrag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4180</Words>
  <Application>Microsoft Macintosh PowerPoint</Application>
  <PresentationFormat>Geniş ekran</PresentationFormat>
  <Paragraphs>348</Paragraphs>
  <Slides>18</Slides>
  <Notes>18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23" baseType="lpstr">
      <vt:lpstr>Arial</vt:lpstr>
      <vt:lpstr>Calibri</vt:lpstr>
      <vt:lpstr>Consolas</vt:lpstr>
      <vt:lpstr>Georgia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ScoutRAG — CS455</dc:title>
  <dc:subject>PptxGenJS Presentation</dc:subject>
  <dc:creator>Özer · Çubukçu · Yılmaz</dc:creator>
  <cp:lastModifiedBy>Umut Can Çubukçu (Student)</cp:lastModifiedBy>
  <cp:revision>2</cp:revision>
  <dcterms:created xsi:type="dcterms:W3CDTF">2026-06-09T15:56:48Z</dcterms:created>
  <dcterms:modified xsi:type="dcterms:W3CDTF">2026-06-09T16:03:55Z</dcterms:modified>
</cp:coreProperties>
</file>